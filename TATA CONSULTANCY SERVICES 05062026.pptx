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Archivo Black" charset="1" panose="020B0A03020202020B04"/>
      <p:regular r:id="rId26"/>
    </p:embeddedFont>
    <p:embeddedFont>
      <p:font typeface="Garet Bold" charset="1" panose="00000000000000000000"/>
      <p:regular r:id="rId27"/>
    </p:embeddedFont>
    <p:embeddedFont>
      <p:font typeface="Garet" charset="1" panose="00000000000000000000"/>
      <p:regular r:id="rId28"/>
    </p:embeddedFont>
    <p:embeddedFont>
      <p:font typeface="Garet Light" charset="1" panose="00000000000000000000"/>
      <p:regular r:id="rId29"/>
    </p:embeddedFont>
    <p:embeddedFont>
      <p:font typeface="Poppins" charset="1" panose="000005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298367" cy="522593"/>
          </a:xfrm>
          <a:custGeom>
            <a:avLst/>
            <a:gdLst/>
            <a:ahLst/>
            <a:cxnLst/>
            <a:rect r="r" b="b" t="t" l="l"/>
            <a:pathLst>
              <a:path h="522593" w="1298367">
                <a:moveTo>
                  <a:pt x="0" y="0"/>
                </a:moveTo>
                <a:lnTo>
                  <a:pt x="1298367" y="0"/>
                </a:lnTo>
                <a:lnTo>
                  <a:pt x="1298367" y="522593"/>
                </a:lnTo>
                <a:lnTo>
                  <a:pt x="0" y="5225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885470" y="6394076"/>
            <a:ext cx="9373830" cy="365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Wireframe Design &amp; User Workflow Presentation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PROJECT MENTOR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966251"/>
            <a:ext cx="3366096" cy="49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Dr. Puneet Singh Thakur</a:t>
            </a:r>
          </a:p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Scientist, R&amp;I Labs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94796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PRESENTED BY: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94796" y="8966251"/>
            <a:ext cx="3366096" cy="49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Deepak Singh Porte</a:t>
            </a:r>
          </a:p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Emp. ID - 3279265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38218" y="990600"/>
            <a:ext cx="432108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 05/06/2026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85854" y="3620243"/>
            <a:ext cx="10773446" cy="2726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855"/>
              </a:lnSpc>
              <a:spcBef>
                <a:spcPct val="0"/>
              </a:spcBef>
            </a:pPr>
            <a:r>
              <a:rPr lang="en-US" sz="8788" spc="-69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FOOD FORMULATION PLATFORM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4E1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882858" y="9818891"/>
            <a:ext cx="20053717" cy="0"/>
          </a:xfrm>
          <a:prstGeom prst="line">
            <a:avLst/>
          </a:prstGeom>
          <a:ln cap="flat" w="9525">
            <a:solidFill>
              <a:srgbClr val="1512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2318225"/>
            <a:ext cx="16230600" cy="6542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Homepage Purpose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The homepage serves as the primary entry point to the platform, introducing users to AI-driven food formulation capabilities, workflow options, ingredient resources, and scientific validation features through a structured and intuitive interface.</a:t>
            </a:r>
          </a:p>
          <a:p>
            <a:pPr algn="just">
              <a:lnSpc>
                <a:spcPts val="4030"/>
              </a:lnSpc>
            </a:pP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Core Components</a:t>
            </a:r>
          </a:p>
          <a:p>
            <a:pPr algn="just" marL="561345" indent="-280673" lvl="1">
              <a:lnSpc>
                <a:spcPts val="4030"/>
              </a:lnSpc>
              <a:buFont typeface="Arial"/>
              <a:buChar char="•"/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Hero Section</a:t>
            </a:r>
          </a:p>
          <a:p>
            <a:pPr algn="just" marL="561345" indent="-280673" lvl="1">
              <a:lnSpc>
                <a:spcPts val="4030"/>
              </a:lnSpc>
              <a:buFont typeface="Arial"/>
              <a:buChar char="•"/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Problem Statement</a:t>
            </a:r>
          </a:p>
          <a:p>
            <a:pPr algn="just" marL="561345" indent="-280673" lvl="1">
              <a:lnSpc>
                <a:spcPts val="4030"/>
              </a:lnSpc>
              <a:buFont typeface="Arial"/>
              <a:buChar char="•"/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User Path Selection</a:t>
            </a:r>
          </a:p>
          <a:p>
            <a:pPr algn="just" marL="561345" indent="-280673" lvl="1">
              <a:lnSpc>
                <a:spcPts val="4030"/>
              </a:lnSpc>
              <a:buFont typeface="Arial"/>
              <a:buChar char="•"/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Platform Workflow</a:t>
            </a:r>
          </a:p>
          <a:p>
            <a:pPr algn="just" marL="561345" indent="-280673" lvl="1">
              <a:lnSpc>
                <a:spcPts val="4030"/>
              </a:lnSpc>
              <a:buFont typeface="Arial"/>
              <a:buChar char="•"/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Ingredient Library</a:t>
            </a:r>
          </a:p>
          <a:p>
            <a:pPr algn="just" marL="561345" indent="-280673" lvl="1">
              <a:lnSpc>
                <a:spcPts val="4030"/>
              </a:lnSpc>
              <a:buFont typeface="Arial"/>
              <a:buChar char="•"/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Scientific Credibility Metrics</a:t>
            </a:r>
          </a:p>
          <a:p>
            <a:pPr algn="just">
              <a:lnSpc>
                <a:spcPts val="403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76325"/>
            <a:ext cx="9872783" cy="708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spc="-110">
                <a:solidFill>
                  <a:srgbClr val="151213"/>
                </a:solidFill>
                <a:latin typeface="Poppins"/>
                <a:ea typeface="Poppins"/>
                <a:cs typeface="Poppins"/>
                <a:sym typeface="Poppins"/>
              </a:rPr>
              <a:t>HOMEPAGE OVERVIEW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1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9773" y="1028700"/>
            <a:ext cx="15788453" cy="8032376"/>
          </a:xfrm>
          <a:custGeom>
            <a:avLst/>
            <a:gdLst/>
            <a:ahLst/>
            <a:cxnLst/>
            <a:rect r="r" b="b" t="t" l="l"/>
            <a:pathLst>
              <a:path h="8032376" w="15788453">
                <a:moveTo>
                  <a:pt x="0" y="0"/>
                </a:moveTo>
                <a:lnTo>
                  <a:pt x="15788454" y="0"/>
                </a:lnTo>
                <a:lnTo>
                  <a:pt x="15788454" y="8032376"/>
                </a:lnTo>
                <a:lnTo>
                  <a:pt x="0" y="80323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1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1679" y="1028700"/>
            <a:ext cx="15604641" cy="7919355"/>
          </a:xfrm>
          <a:custGeom>
            <a:avLst/>
            <a:gdLst/>
            <a:ahLst/>
            <a:cxnLst/>
            <a:rect r="r" b="b" t="t" l="l"/>
            <a:pathLst>
              <a:path h="7919355" w="15604641">
                <a:moveTo>
                  <a:pt x="0" y="0"/>
                </a:moveTo>
                <a:lnTo>
                  <a:pt x="15604642" y="0"/>
                </a:lnTo>
                <a:lnTo>
                  <a:pt x="15604642" y="7919355"/>
                </a:lnTo>
                <a:lnTo>
                  <a:pt x="0" y="79193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1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9331" y="1028700"/>
            <a:ext cx="15849339" cy="8063351"/>
          </a:xfrm>
          <a:custGeom>
            <a:avLst/>
            <a:gdLst/>
            <a:ahLst/>
            <a:cxnLst/>
            <a:rect r="r" b="b" t="t" l="l"/>
            <a:pathLst>
              <a:path h="8063351" w="15849339">
                <a:moveTo>
                  <a:pt x="0" y="0"/>
                </a:moveTo>
                <a:lnTo>
                  <a:pt x="15849338" y="0"/>
                </a:lnTo>
                <a:lnTo>
                  <a:pt x="15849338" y="8063351"/>
                </a:lnTo>
                <a:lnTo>
                  <a:pt x="0" y="80633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1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9029" y="1028700"/>
            <a:ext cx="15469943" cy="5627192"/>
          </a:xfrm>
          <a:custGeom>
            <a:avLst/>
            <a:gdLst/>
            <a:ahLst/>
            <a:cxnLst/>
            <a:rect r="r" b="b" t="t" l="l"/>
            <a:pathLst>
              <a:path h="5627192" w="15469943">
                <a:moveTo>
                  <a:pt x="0" y="0"/>
                </a:moveTo>
                <a:lnTo>
                  <a:pt x="15469942" y="0"/>
                </a:lnTo>
                <a:lnTo>
                  <a:pt x="15469942" y="5627192"/>
                </a:lnTo>
                <a:lnTo>
                  <a:pt x="0" y="56271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1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3671" y="1028700"/>
            <a:ext cx="15840657" cy="7979731"/>
          </a:xfrm>
          <a:custGeom>
            <a:avLst/>
            <a:gdLst/>
            <a:ahLst/>
            <a:cxnLst/>
            <a:rect r="r" b="b" t="t" l="l"/>
            <a:pathLst>
              <a:path h="7979731" w="15840657">
                <a:moveTo>
                  <a:pt x="0" y="0"/>
                </a:moveTo>
                <a:lnTo>
                  <a:pt x="15840658" y="0"/>
                </a:lnTo>
                <a:lnTo>
                  <a:pt x="15840658" y="7979731"/>
                </a:lnTo>
                <a:lnTo>
                  <a:pt x="0" y="79797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4E1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882858" y="9818891"/>
            <a:ext cx="20053717" cy="0"/>
          </a:xfrm>
          <a:prstGeom prst="line">
            <a:avLst/>
          </a:prstGeom>
          <a:ln cap="flat" w="9525">
            <a:solidFill>
              <a:srgbClr val="1512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2318225"/>
            <a:ext cx="16230600" cy="6542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Purpose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Centralized workspace for managing food formulation projects.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Key Highlights</a:t>
            </a:r>
          </a:p>
          <a:p>
            <a:pPr algn="just" marL="561345" indent="-280673" lvl="1">
              <a:lnSpc>
                <a:spcPts val="4030"/>
              </a:lnSpc>
              <a:buFont typeface="Arial"/>
              <a:buChar char="•"/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Project and formulation overview.</a:t>
            </a:r>
          </a:p>
          <a:p>
            <a:pPr algn="just" marL="561345" indent="-280673" lvl="1">
              <a:lnSpc>
                <a:spcPts val="4030"/>
              </a:lnSpc>
              <a:buFont typeface="Arial"/>
              <a:buChar char="•"/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Expert &amp; Guided workflow access.</a:t>
            </a:r>
          </a:p>
          <a:p>
            <a:pPr algn="just" marL="561345" indent="-280673" lvl="1">
              <a:lnSpc>
                <a:spcPts val="4030"/>
              </a:lnSpc>
              <a:buFont typeface="Arial"/>
              <a:buChar char="•"/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Progress tracking and status monitoring.</a:t>
            </a:r>
          </a:p>
          <a:p>
            <a:pPr algn="just" marL="561345" indent="-280673" lvl="1">
              <a:lnSpc>
                <a:spcPts val="4030"/>
              </a:lnSpc>
              <a:buFont typeface="Arial"/>
              <a:buChar char="•"/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Quick actions for reports and compliance.</a:t>
            </a:r>
          </a:p>
          <a:p>
            <a:pPr algn="just" marL="561345" indent="-280673" lvl="1">
              <a:lnSpc>
                <a:spcPts val="4030"/>
              </a:lnSpc>
              <a:buFont typeface="Arial"/>
              <a:buChar char="•"/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Activity and notification management.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Benefits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✓ Faster Project Management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 ✓ Better Visibility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 ✓ Streamlined Workflow</a:t>
            </a:r>
          </a:p>
          <a:p>
            <a:pPr algn="just">
              <a:lnSpc>
                <a:spcPts val="403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76325"/>
            <a:ext cx="14284157" cy="708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spc="-110">
                <a:solidFill>
                  <a:srgbClr val="151213"/>
                </a:solidFill>
                <a:latin typeface="Poppins"/>
                <a:ea typeface="Poppins"/>
                <a:cs typeface="Poppins"/>
                <a:sym typeface="Poppins"/>
              </a:rPr>
              <a:t>USER DASHBOARD &amp; PROJECT MANAGEMENT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1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0422" y="1028700"/>
            <a:ext cx="15947157" cy="6948584"/>
          </a:xfrm>
          <a:custGeom>
            <a:avLst/>
            <a:gdLst/>
            <a:ahLst/>
            <a:cxnLst/>
            <a:rect r="r" b="b" t="t" l="l"/>
            <a:pathLst>
              <a:path h="6948584" w="15947157">
                <a:moveTo>
                  <a:pt x="0" y="0"/>
                </a:moveTo>
                <a:lnTo>
                  <a:pt x="15947156" y="0"/>
                </a:lnTo>
                <a:lnTo>
                  <a:pt x="15947156" y="6948584"/>
                </a:lnTo>
                <a:lnTo>
                  <a:pt x="0" y="6948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36" r="-538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E4E1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882858" y="9818891"/>
            <a:ext cx="20053717" cy="0"/>
          </a:xfrm>
          <a:prstGeom prst="line">
            <a:avLst/>
          </a:prstGeom>
          <a:ln cap="flat" w="9525">
            <a:solidFill>
              <a:srgbClr val="1512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2318225"/>
            <a:ext cx="16230600" cy="6542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Purpose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Centralized repository for exploring, comparing, and selecting ingredients for food formulations.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Key Highlights</a:t>
            </a:r>
          </a:p>
          <a:p>
            <a:pPr algn="just" marL="561345" indent="-280673" lvl="1">
              <a:lnSpc>
                <a:spcPts val="4030"/>
              </a:lnSpc>
              <a:buFont typeface="Arial"/>
              <a:buChar char="•"/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Search and filter ingredients by category and function.</a:t>
            </a:r>
          </a:p>
          <a:p>
            <a:pPr algn="just" marL="561345" indent="-280673" lvl="1">
              <a:lnSpc>
                <a:spcPts val="4030"/>
              </a:lnSpc>
              <a:buFont typeface="Arial"/>
              <a:buChar char="•"/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Compare ingredient properties and costs.</a:t>
            </a:r>
          </a:p>
          <a:p>
            <a:pPr algn="just" marL="561345" indent="-280673" lvl="1">
              <a:lnSpc>
                <a:spcPts val="4030"/>
              </a:lnSpc>
              <a:buFont typeface="Arial"/>
              <a:buChar char="•"/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View detailed ingredient specifications.</a:t>
            </a:r>
          </a:p>
          <a:p>
            <a:pPr algn="just" marL="561345" indent="-280673" lvl="1">
              <a:lnSpc>
                <a:spcPts val="4030"/>
              </a:lnSpc>
              <a:buFont typeface="Arial"/>
              <a:buChar char="•"/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Discover alternative ingredient options.</a:t>
            </a:r>
          </a:p>
          <a:p>
            <a:pPr algn="just" marL="561345" indent="-280673" lvl="1">
              <a:lnSpc>
                <a:spcPts val="4030"/>
              </a:lnSpc>
              <a:buFont typeface="Arial"/>
              <a:buChar char="•"/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Direct integration with formulation workflow.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Benefits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✓ Faster Ingredient Selection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 ✓ Better Decision Making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 ✓ Improved Formulation Accuracy</a:t>
            </a:r>
          </a:p>
          <a:p>
            <a:pPr algn="just">
              <a:lnSpc>
                <a:spcPts val="403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76325"/>
            <a:ext cx="14284157" cy="708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spc="-110">
                <a:solidFill>
                  <a:srgbClr val="151213"/>
                </a:solidFill>
                <a:latin typeface="Poppins"/>
                <a:ea typeface="Poppins"/>
                <a:cs typeface="Poppins"/>
                <a:sym typeface="Poppins"/>
              </a:rPr>
              <a:t>INGREDIENT LIBRARY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1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5483" y="1028700"/>
            <a:ext cx="15697034" cy="7978322"/>
          </a:xfrm>
          <a:custGeom>
            <a:avLst/>
            <a:gdLst/>
            <a:ahLst/>
            <a:cxnLst/>
            <a:rect r="r" b="b" t="t" l="l"/>
            <a:pathLst>
              <a:path h="7978322" w="15697034">
                <a:moveTo>
                  <a:pt x="0" y="0"/>
                </a:moveTo>
                <a:lnTo>
                  <a:pt x="15697034" y="0"/>
                </a:lnTo>
                <a:lnTo>
                  <a:pt x="15697034" y="7978322"/>
                </a:lnTo>
                <a:lnTo>
                  <a:pt x="0" y="7978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647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E4E1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882858" y="9818891"/>
            <a:ext cx="20053717" cy="0"/>
          </a:xfrm>
          <a:prstGeom prst="line">
            <a:avLst/>
          </a:prstGeom>
          <a:ln cap="flat" w="9525">
            <a:solidFill>
              <a:srgbClr val="1512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2318225"/>
            <a:ext cx="16230600" cy="7047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Purpose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Enables expert users to create and optimize formulations using AI-assisted recommendations and real-time analysis.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Key Highlights</a:t>
            </a:r>
          </a:p>
          <a:p>
            <a:pPr algn="just" marL="561345" indent="-280673" lvl="1">
              <a:lnSpc>
                <a:spcPts val="4030"/>
              </a:lnSpc>
              <a:buFont typeface="Arial"/>
              <a:buChar char="•"/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Ingredient composition management.</a:t>
            </a:r>
          </a:p>
          <a:p>
            <a:pPr algn="just" marL="561345" indent="-280673" lvl="1">
              <a:lnSpc>
                <a:spcPts val="4030"/>
              </a:lnSpc>
              <a:buFont typeface="Arial"/>
              <a:buChar char="•"/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AI-powered formulation suggestions.</a:t>
            </a:r>
          </a:p>
          <a:p>
            <a:pPr algn="just" marL="561345" indent="-280673" lvl="1">
              <a:lnSpc>
                <a:spcPts val="4030"/>
              </a:lnSpc>
              <a:buFont typeface="Arial"/>
              <a:buChar char="•"/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Nutrition and cost analysis.</a:t>
            </a:r>
          </a:p>
          <a:p>
            <a:pPr algn="just" marL="561345" indent="-280673" lvl="1">
              <a:lnSpc>
                <a:spcPts val="4030"/>
              </a:lnSpc>
              <a:buFont typeface="Arial"/>
              <a:buChar char="•"/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Compliance validation checks.</a:t>
            </a:r>
          </a:p>
          <a:p>
            <a:pPr algn="just" marL="561345" indent="-280673" lvl="1">
              <a:lnSpc>
                <a:spcPts val="4030"/>
              </a:lnSpc>
              <a:buFont typeface="Arial"/>
              <a:buChar char="•"/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Formula optimization and export options.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Benefits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✓ Faster Formulation Development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 ✓ Cost Optimization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 ✓ Regulatory Compliance</a:t>
            </a:r>
          </a:p>
          <a:p>
            <a:pPr algn="just">
              <a:lnSpc>
                <a:spcPts val="403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76325"/>
            <a:ext cx="14284157" cy="708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spc="-110">
                <a:solidFill>
                  <a:srgbClr val="151213"/>
                </a:solidFill>
                <a:latin typeface="Poppins"/>
                <a:ea typeface="Poppins"/>
                <a:cs typeface="Poppins"/>
                <a:sym typeface="Poppins"/>
              </a:rPr>
              <a:t>EXPERT USER WORKFLOW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1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2353" y="1028700"/>
            <a:ext cx="15803293" cy="8020171"/>
          </a:xfrm>
          <a:custGeom>
            <a:avLst/>
            <a:gdLst/>
            <a:ahLst/>
            <a:cxnLst/>
            <a:rect r="r" b="b" t="t" l="l"/>
            <a:pathLst>
              <a:path h="8020171" w="15803293">
                <a:moveTo>
                  <a:pt x="0" y="0"/>
                </a:moveTo>
                <a:lnTo>
                  <a:pt x="15803294" y="0"/>
                </a:lnTo>
                <a:lnTo>
                  <a:pt x="15803294" y="8020171"/>
                </a:lnTo>
                <a:lnTo>
                  <a:pt x="0" y="80201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E4E1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882858" y="9818891"/>
            <a:ext cx="20053717" cy="0"/>
          </a:xfrm>
          <a:prstGeom prst="line">
            <a:avLst/>
          </a:prstGeom>
          <a:ln cap="flat" w="9525">
            <a:solidFill>
              <a:srgbClr val="1512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2318225"/>
            <a:ext cx="16230600" cy="6542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Purpose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Guides users through food formulation with step-by-step AI assistance.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Key Highlights</a:t>
            </a:r>
          </a:p>
          <a:p>
            <a:pPr algn="just" marL="561345" indent="-280673" lvl="1">
              <a:lnSpc>
                <a:spcPts val="4030"/>
              </a:lnSpc>
              <a:buFont typeface="Arial"/>
              <a:buChar char="•"/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Product category selection.</a:t>
            </a:r>
          </a:p>
          <a:p>
            <a:pPr algn="just" marL="561345" indent="-280673" lvl="1">
              <a:lnSpc>
                <a:spcPts val="4030"/>
              </a:lnSpc>
              <a:buFont typeface="Arial"/>
              <a:buChar char="•"/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Natural language idea input.</a:t>
            </a:r>
          </a:p>
          <a:p>
            <a:pPr algn="just" marL="561345" indent="-280673" lvl="1">
              <a:lnSpc>
                <a:spcPts val="4030"/>
              </a:lnSpc>
              <a:buFont typeface="Arial"/>
              <a:buChar char="•"/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AI-assisted ingredient exploration.</a:t>
            </a:r>
          </a:p>
          <a:p>
            <a:pPr algn="just" marL="561345" indent="-280673" lvl="1">
              <a:lnSpc>
                <a:spcPts val="4030"/>
              </a:lnSpc>
              <a:buFont typeface="Arial"/>
              <a:buChar char="•"/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Guided ingredient selection and learning.</a:t>
            </a:r>
          </a:p>
          <a:p>
            <a:pPr algn="just" marL="561345" indent="-280673" lvl="1">
              <a:lnSpc>
                <a:spcPts val="4030"/>
              </a:lnSpc>
              <a:buFont typeface="Arial"/>
              <a:buChar char="•"/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Progressive formulation workflow.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Benefits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✓ Beginner-Friendly Experience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 ✓ Guided Decision Making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 ✓ Reduced Learning Curve</a:t>
            </a:r>
          </a:p>
          <a:p>
            <a:pPr algn="just">
              <a:lnSpc>
                <a:spcPts val="403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76325"/>
            <a:ext cx="14284157" cy="708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spc="-110">
                <a:solidFill>
                  <a:srgbClr val="151213"/>
                </a:solidFill>
                <a:latin typeface="Poppins"/>
                <a:ea typeface="Poppins"/>
                <a:cs typeface="Poppins"/>
                <a:sym typeface="Poppins"/>
              </a:rPr>
              <a:t>GUIDED USER WORKFLOW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1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2387" y="1028700"/>
            <a:ext cx="15823225" cy="8010508"/>
          </a:xfrm>
          <a:custGeom>
            <a:avLst/>
            <a:gdLst/>
            <a:ahLst/>
            <a:cxnLst/>
            <a:rect r="r" b="b" t="t" l="l"/>
            <a:pathLst>
              <a:path h="8010508" w="15823225">
                <a:moveTo>
                  <a:pt x="0" y="0"/>
                </a:moveTo>
                <a:lnTo>
                  <a:pt x="15823226" y="0"/>
                </a:lnTo>
                <a:lnTo>
                  <a:pt x="15823226" y="8010508"/>
                </a:lnTo>
                <a:lnTo>
                  <a:pt x="0" y="8010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1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4152" y="1028700"/>
            <a:ext cx="15679696" cy="7977045"/>
          </a:xfrm>
          <a:custGeom>
            <a:avLst/>
            <a:gdLst/>
            <a:ahLst/>
            <a:cxnLst/>
            <a:rect r="r" b="b" t="t" l="l"/>
            <a:pathLst>
              <a:path h="7977045" w="15679696">
                <a:moveTo>
                  <a:pt x="0" y="0"/>
                </a:moveTo>
                <a:lnTo>
                  <a:pt x="15679696" y="0"/>
                </a:lnTo>
                <a:lnTo>
                  <a:pt x="15679696" y="7977045"/>
                </a:lnTo>
                <a:lnTo>
                  <a:pt x="0" y="79770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1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5135" y="1028700"/>
            <a:ext cx="15817729" cy="8027498"/>
          </a:xfrm>
          <a:custGeom>
            <a:avLst/>
            <a:gdLst/>
            <a:ahLst/>
            <a:cxnLst/>
            <a:rect r="r" b="b" t="t" l="l"/>
            <a:pathLst>
              <a:path h="8027498" w="15817729">
                <a:moveTo>
                  <a:pt x="0" y="0"/>
                </a:moveTo>
                <a:lnTo>
                  <a:pt x="15817730" y="0"/>
                </a:lnTo>
                <a:lnTo>
                  <a:pt x="15817730" y="8027498"/>
                </a:lnTo>
                <a:lnTo>
                  <a:pt x="0" y="8027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E4E1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882858" y="9818891"/>
            <a:ext cx="20053717" cy="0"/>
          </a:xfrm>
          <a:prstGeom prst="line">
            <a:avLst/>
          </a:prstGeom>
          <a:ln cap="flat" w="9525">
            <a:solidFill>
              <a:srgbClr val="1512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2318225"/>
            <a:ext cx="16230600" cy="6542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Purpose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Provides real-time visibility into formulation compliance across global regulatory standards.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Key Highlights</a:t>
            </a:r>
          </a:p>
          <a:p>
            <a:pPr algn="just" marL="561345" indent="-280673" lvl="1">
              <a:lnSpc>
                <a:spcPts val="4030"/>
              </a:lnSpc>
              <a:buFont typeface="Arial"/>
              <a:buChar char="•"/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Regional compliance monitoring.</a:t>
            </a:r>
          </a:p>
          <a:p>
            <a:pPr algn="just" marL="561345" indent="-280673" lvl="1">
              <a:lnSpc>
                <a:spcPts val="4030"/>
              </a:lnSpc>
              <a:buFont typeface="Arial"/>
              <a:buChar char="•"/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Automated alerts and warnings.</a:t>
            </a:r>
          </a:p>
          <a:p>
            <a:pPr algn="just" marL="561345" indent="-280673" lvl="1">
              <a:lnSpc>
                <a:spcPts val="4030"/>
              </a:lnSpc>
              <a:buFont typeface="Arial"/>
              <a:buChar char="•"/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Compliance audit and reporting tools.</a:t>
            </a:r>
          </a:p>
          <a:p>
            <a:pPr algn="just" marL="561345" indent="-280673" lvl="1">
              <a:lnSpc>
                <a:spcPts val="4030"/>
              </a:lnSpc>
              <a:buFont typeface="Arial"/>
              <a:buChar char="•"/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Formulation validation tracking.</a:t>
            </a:r>
          </a:p>
          <a:p>
            <a:pPr algn="just" marL="561345" indent="-280673" lvl="1">
              <a:lnSpc>
                <a:spcPts val="4030"/>
              </a:lnSpc>
              <a:buFont typeface="Arial"/>
              <a:buChar char="•"/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Regulatory issue management.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Benefits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✓ Improved Regulatory Readiness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 ✓ Faster Compliance Reviews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 ✓ Reduced Risk of Non-Compliance</a:t>
            </a:r>
          </a:p>
          <a:p>
            <a:pPr algn="just">
              <a:lnSpc>
                <a:spcPts val="403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76325"/>
            <a:ext cx="14284157" cy="708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spc="-110">
                <a:solidFill>
                  <a:srgbClr val="151213"/>
                </a:solidFill>
                <a:latin typeface="Poppins"/>
                <a:ea typeface="Poppins"/>
                <a:cs typeface="Poppins"/>
                <a:sym typeface="Poppins"/>
              </a:rPr>
              <a:t>COMPLIANCE DASHBOARD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1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1799" y="1028700"/>
            <a:ext cx="15844401" cy="7922201"/>
          </a:xfrm>
          <a:custGeom>
            <a:avLst/>
            <a:gdLst/>
            <a:ahLst/>
            <a:cxnLst/>
            <a:rect r="r" b="b" t="t" l="l"/>
            <a:pathLst>
              <a:path h="7922201" w="15844401">
                <a:moveTo>
                  <a:pt x="0" y="0"/>
                </a:moveTo>
                <a:lnTo>
                  <a:pt x="15844402" y="0"/>
                </a:lnTo>
                <a:lnTo>
                  <a:pt x="15844402" y="7922201"/>
                </a:lnTo>
                <a:lnTo>
                  <a:pt x="0" y="7922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E4E1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882858" y="9818891"/>
            <a:ext cx="20053717" cy="0"/>
          </a:xfrm>
          <a:prstGeom prst="line">
            <a:avLst/>
          </a:prstGeom>
          <a:ln cap="flat" w="9525">
            <a:solidFill>
              <a:srgbClr val="1512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2318225"/>
            <a:ext cx="16230600" cy="5532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Slide 10: Conclusion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Key Takeaways</a:t>
            </a:r>
          </a:p>
          <a:p>
            <a:pPr algn="just" marL="561345" indent="-280673" lvl="1">
              <a:lnSpc>
                <a:spcPts val="4030"/>
              </a:lnSpc>
              <a:buFont typeface="Arial"/>
              <a:buChar char="•"/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AI-driven food formulation platform.</a:t>
            </a:r>
          </a:p>
          <a:p>
            <a:pPr algn="just" marL="561345" indent="-280673" lvl="1">
              <a:lnSpc>
                <a:spcPts val="4030"/>
              </a:lnSpc>
              <a:buFont typeface="Arial"/>
              <a:buChar char="•"/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Supports Expert and Guided workflows.</a:t>
            </a:r>
          </a:p>
          <a:p>
            <a:pPr algn="just" marL="561345" indent="-280673" lvl="1">
              <a:lnSpc>
                <a:spcPts val="4030"/>
              </a:lnSpc>
              <a:buFont typeface="Arial"/>
              <a:buChar char="•"/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Simplifies ingredient selection and formulation.</a:t>
            </a:r>
          </a:p>
          <a:p>
            <a:pPr algn="just" marL="561345" indent="-280673" lvl="1">
              <a:lnSpc>
                <a:spcPts val="4030"/>
              </a:lnSpc>
              <a:buFont typeface="Arial"/>
              <a:buChar char="•"/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Ensures regulatory compliance.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Benefits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✓ Faster Development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 ✓ Better Accuracy</a:t>
            </a:r>
          </a:p>
          <a:p>
            <a:pPr algn="just">
              <a:lnSpc>
                <a:spcPts val="4030"/>
              </a:lnSpc>
            </a:pPr>
            <a:r>
              <a:rPr lang="en-US" sz="2600" spc="-143">
                <a:solidFill>
                  <a:srgbClr val="151213"/>
                </a:solidFill>
                <a:latin typeface="Garet"/>
                <a:ea typeface="Garet"/>
                <a:cs typeface="Garet"/>
                <a:sym typeface="Garet"/>
              </a:rPr>
              <a:t> ✓ Reduced Effort</a:t>
            </a:r>
          </a:p>
          <a:p>
            <a:pPr algn="just">
              <a:lnSpc>
                <a:spcPts val="403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76325"/>
            <a:ext cx="14284157" cy="708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spc="-110">
                <a:solidFill>
                  <a:srgbClr val="151213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DAHLm2J_zpo</dc:identifier>
  <dcterms:modified xsi:type="dcterms:W3CDTF">2011-08-01T06:04:30Z</dcterms:modified>
  <cp:revision>1</cp:revision>
  <dc:title>TATA CONSULTANCY SERVICES 05/06/2026</dc:title>
</cp:coreProperties>
</file>